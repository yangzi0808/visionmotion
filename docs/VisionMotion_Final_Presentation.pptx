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0072B2"/>
                </a:solidFill>
                <a:latin typeface="Microsoft YaHei"/>
                <a:ea typeface="Microsoft YaHei"/>
                <a:cs typeface="Microsoft YaHei"/>
              </a:rPr>
              <a:t>VisionMotion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基于计算机视觉的低成本非接触式位移与振动监测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27248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从视频到周期、频率与物理参考的可复现测量流程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977639"/>
            <a:ext cx="1493520" cy="566928"/>
          </a:xfrm>
          <a:prstGeom prst="roundRect">
            <a:avLst>
              <a:gd name="adj" fmla="val 4000"/>
            </a:avLst>
          </a:prstGeom>
          <a:solidFill>
            <a:srgbClr val="E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72B2"/>
                </a:solidFill>
                <a:latin typeface="Microsoft YaHei"/>
                <a:ea typeface="Microsoft YaHei"/>
                <a:cs typeface="Microsoft YaHei"/>
              </a:rPr>
              <a:t>视 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07920" y="3977639"/>
            <a:ext cx="27432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82240" y="3977639"/>
            <a:ext cx="1493520" cy="566928"/>
          </a:xfrm>
          <a:prstGeom prst="roundRect">
            <a:avLst>
              <a:gd name="adj" fmla="val 4000"/>
            </a:avLst>
          </a:prstGeom>
          <a:solidFill>
            <a:srgbClr val="E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72B2"/>
                </a:solidFill>
                <a:latin typeface="Microsoft YaHei"/>
                <a:ea typeface="Microsoft YaHei"/>
                <a:cs typeface="Microsoft YaHei"/>
              </a:rPr>
              <a:t>y₀(t)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75760" y="3977639"/>
            <a:ext cx="27432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0080" y="3977639"/>
            <a:ext cx="1493520" cy="566928"/>
          </a:xfrm>
          <a:prstGeom prst="roundRect">
            <a:avLst>
              <a:gd name="adj" fmla="val 4000"/>
            </a:avLst>
          </a:prstGeom>
          <a:solidFill>
            <a:srgbClr val="E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72B2"/>
                </a:solidFill>
                <a:latin typeface="Microsoft YaHei"/>
                <a:ea typeface="Microsoft YaHei"/>
                <a:cs typeface="Microsoft YaHei"/>
              </a:rPr>
              <a:t>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3977639"/>
            <a:ext cx="27432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77639"/>
            <a:ext cx="1493520" cy="566928"/>
          </a:xfrm>
          <a:prstGeom prst="roundRect">
            <a:avLst>
              <a:gd name="adj" fmla="val 4000"/>
            </a:avLst>
          </a:prstGeom>
          <a:solidFill>
            <a:srgbClr val="E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72B2"/>
                </a:solidFill>
                <a:latin typeface="Microsoft YaHei"/>
                <a:ea typeface="Microsoft YaHei"/>
                <a:cs typeface="Microsoft YaHei"/>
              </a:rPr>
              <a:t>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1440" y="3977639"/>
            <a:ext cx="27432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85760" y="3977639"/>
            <a:ext cx="1493520" cy="566928"/>
          </a:xfrm>
          <a:prstGeom prst="roundRect">
            <a:avLst>
              <a:gd name="adj" fmla="val 4000"/>
            </a:avLst>
          </a:prstGeom>
          <a:solidFill>
            <a:srgbClr val="E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72B2"/>
                </a:solidFill>
                <a:latin typeface="Microsoft YaHei"/>
                <a:ea typeface="Microsoft YaHei"/>
                <a:cs typeface="Microsoft YaHei"/>
              </a:rPr>
              <a:t>FFT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9280" y="3977639"/>
            <a:ext cx="27432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53600" y="3977639"/>
            <a:ext cx="1493520" cy="566928"/>
          </a:xfrm>
          <a:prstGeom prst="roundRect">
            <a:avLst>
              <a:gd name="adj" fmla="val 4000"/>
            </a:avLst>
          </a:prstGeom>
          <a:solidFill>
            <a:srgbClr val="E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72B2"/>
                </a:solidFill>
                <a:latin typeface="Microsoft YaHei"/>
                <a:ea typeface="Microsoft YaHei"/>
                <a:cs typeface="Microsoft YaHei"/>
              </a:rPr>
              <a:t>SHM 参考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9204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外部公开教育数据 · 可解释的视觉测量流程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图 / 数据：results/EXP-EXT-LAB67-V1_*、docs/M6.3_FINAL_REPORT.md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23620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1 / 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6236208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External public educational dataset — ComPADRE / OSP Lab67 Video 1（51.5 g）</a:t>
            </a:r>
          </a:p>
          <a:p>
            <a:pPr algn="r"/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数据源：results/EXP-EXT-LAB67-V1_trajectory.csv（frame 76–235，160 帧，30 fps）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为什么要从“视频”测量振动？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463040" cy="381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18488"/>
            <a:ext cx="649224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800"/>
              </a:spcAft>
            </a:pPr>
            <a:r>
              <a:rPr sz="18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1. 普通视频能否提取稳定、可重复的位置特征？</a:t>
            </a:r>
          </a:p>
          <a:p>
            <a:pPr algn="l">
              <a:spcAft>
                <a:spcPts val="1800"/>
              </a:spcAft>
            </a:pPr>
            <a:r>
              <a:rPr sz="18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2. 像素位置能否直接形成可分析的时间序列？</a:t>
            </a:r>
          </a:p>
          <a:p>
            <a:pPr algn="l">
              <a:spcAft>
                <a:spcPts val="1800"/>
              </a:spcAft>
            </a:pPr>
            <a:r>
              <a:rPr sz="18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3. 如何从时间序列得到周期与频率？</a:t>
            </a:r>
          </a:p>
          <a:p>
            <a:pPr algn="l">
              <a:spcAft>
                <a:spcPts val="1800"/>
              </a:spcAft>
            </a:pPr>
            <a:r>
              <a:rPr sz="18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4. 如何用独立证据检查测量结果？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92040"/>
            <a:ext cx="6492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D55E00"/>
                </a:solidFill>
                <a:latin typeface="Microsoft YaHei"/>
                <a:ea typeface="Microsoft YaHei"/>
                <a:cs typeface="Microsoft YaHei"/>
              </a:rPr>
              <a:t>重点不是深度学习，而是可解释、可复现的视觉测量流程。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60920" y="1389888"/>
            <a:ext cx="4206240" cy="4206240"/>
          </a:xfrm>
          <a:prstGeom prst="roundRect">
            <a:avLst>
              <a:gd name="adj" fmla="val 4000"/>
            </a:avLst>
          </a:prstGeom>
          <a:solidFill>
            <a:srgbClr val="E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35240" y="1618488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072B2"/>
                </a:solidFill>
                <a:latin typeface="Microsoft YaHei"/>
                <a:ea typeface="Microsoft YaHei"/>
                <a:cs typeface="Microsoft YaHei"/>
              </a:rPr>
              <a:t>核心链路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167128"/>
            <a:ext cx="36576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视频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→  y₀(t) 位置时间序列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→  T 周期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→  f 频率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→  FFT 交叉验证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→  SHM 条件性参考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3620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2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6236208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External public educational dataset — ComPADRE / OSP Lab67 Video 1（51.5 g）</a:t>
            </a:r>
          </a:p>
          <a:p>
            <a:pPr algn="r"/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数据源：results/EXP-EXT-LAB67-V1_trajectory.csv（frame 76–235，160 帧，30 fps）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公开教学实验数据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463040" cy="381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252728"/>
            <a:ext cx="3566160" cy="457200"/>
          </a:xfrm>
          <a:prstGeom prst="roundRect">
            <a:avLst>
              <a:gd name="adj" fmla="val 4000"/>
            </a:avLst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EXTERNAL / PUBLIC 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92808"/>
            <a:ext cx="5577840" cy="3749039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21408"/>
            <a:ext cx="50292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来源：ComPADRE / Open Source Physics（OSP）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0072B2"/>
                </a:solidFill>
                <a:latin typeface="Microsoft YaHei"/>
                <a:ea typeface="Microsoft YaHei"/>
                <a:cs typeface="Microsoft YaHei"/>
              </a:rPr>
              <a:t>条目 ID：16081</a:t>
            </a:r>
          </a:p>
          <a:p>
            <a:pPr algn="l">
              <a:spcAft>
                <a:spcPts val="1400"/>
              </a:spcAft>
            </a:pPr>
            <a:r>
              <a:rPr sz="14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标题：Teaching Harmonic Motion Online Using Tracker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0072B2"/>
                </a:solidFill>
                <a:latin typeface="Microsoft YaHei"/>
                <a:ea typeface="Microsoft YaHei"/>
                <a:cs typeface="Microsoft YaHei"/>
              </a:rPr>
              <a:t>使用资源：Lab67 Video 1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质量标签：51.5 g（= 0.0515 kg）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892808"/>
            <a:ext cx="5212080" cy="3749039"/>
          </a:xfrm>
          <a:prstGeom prst="roundRect">
            <a:avLst>
              <a:gd name="adj" fmla="val 4000"/>
            </a:avLst>
          </a:prstGeom>
          <a:solidFill>
            <a:srgbClr val="E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2121408"/>
            <a:ext cx="466344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16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视频参数：1920 × 1080，30 fps</a:t>
            </a:r>
          </a:p>
          <a:p>
            <a:pPr algn="l">
              <a:spcAft>
                <a:spcPts val="1600"/>
              </a:spcAft>
            </a:pPr>
            <a:r>
              <a:rPr sz="16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帧数：236 帧（总长约 7.87 s）</a:t>
            </a:r>
          </a:p>
          <a:p>
            <a:pPr algn="l">
              <a:spcAft>
                <a:spcPts val="1600"/>
              </a:spcAft>
            </a:pPr>
            <a:r>
              <a:rPr sz="1600" b="1">
                <a:solidFill>
                  <a:srgbClr val="0072B2"/>
                </a:solidFill>
                <a:latin typeface="Microsoft YaHei"/>
                <a:ea typeface="Microsoft YaHei"/>
                <a:cs typeface="Microsoft YaHei"/>
              </a:rPr>
              <a:t>正式分析区间：frame 76–235</a:t>
            </a:r>
          </a:p>
          <a:p>
            <a:pPr algn="l">
              <a:spcAft>
                <a:spcPts val="1600"/>
              </a:spcAft>
            </a:pPr>
            <a:r>
              <a:rPr sz="16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160 帧，5.3333 s</a:t>
            </a:r>
          </a:p>
          <a:p>
            <a:pPr algn="l">
              <a:spcAft>
                <a:spcPts val="1600"/>
              </a:spcAft>
            </a:pPr>
            <a:r>
              <a:rPr sz="1400" b="1">
                <a:solidFill>
                  <a:srgbClr val="D55E00"/>
                </a:solidFill>
                <a:latin typeface="Microsoft YaHei"/>
                <a:ea typeface="Microsoft YaHei"/>
                <a:cs typeface="Microsoft YaHei"/>
              </a:rPr>
              <a:t>数据性质：External public educational dataset</a:t>
            </a:r>
          </a:p>
          <a:p>
            <a:pPr algn="l">
              <a:spcAft>
                <a:spcPts val="1600"/>
              </a:spcAft>
            </a:pPr>
            <a:r>
              <a:rPr sz="13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（外部公开教育数据，不是本项目自行采集）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3620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3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6236208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External public educational dataset — ComPADRE / OSP Lab67 Video 1（51.5 g）</a:t>
            </a:r>
          </a:p>
          <a:p>
            <a:pPr algn="r"/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数据源：results/EXP-EXT-LAB67-V1_trajectory.csv（frame 76–235，160 帧，30 fps）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从图像到位置时间序列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463040" cy="381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527048"/>
            <a:ext cx="1993392" cy="548640"/>
          </a:xfrm>
          <a:prstGeom prst="roundRect">
            <a:avLst>
              <a:gd name="adj" fmla="val 4000"/>
            </a:avLst>
          </a:prstGeom>
          <a:solidFill>
            <a:srgbClr val="E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72B2"/>
                </a:solidFill>
                <a:latin typeface="Microsoft YaHei"/>
                <a:ea typeface="Microsoft YaHei"/>
                <a:cs typeface="Microsoft YaHei"/>
              </a:rPr>
              <a:t>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42032" y="1527048"/>
            <a:ext cx="2743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16352" y="1527048"/>
            <a:ext cx="1993392" cy="548640"/>
          </a:xfrm>
          <a:prstGeom prst="roundRect">
            <a:avLst>
              <a:gd name="adj" fmla="val 4000"/>
            </a:avLst>
          </a:prstGeom>
          <a:solidFill>
            <a:srgbClr val="E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72B2"/>
                </a:solidFill>
                <a:latin typeface="Microsoft YaHei"/>
                <a:ea typeface="Microsoft YaHei"/>
                <a:cs typeface="Microsoft YaHei"/>
              </a:rPr>
              <a:t>gray &lt; 120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9744" y="1527048"/>
            <a:ext cx="2743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4064" y="1527048"/>
            <a:ext cx="1993392" cy="548640"/>
          </a:xfrm>
          <a:prstGeom prst="roundRect">
            <a:avLst>
              <a:gd name="adj" fmla="val 4000"/>
            </a:avLst>
          </a:prstGeom>
          <a:solidFill>
            <a:srgbClr val="E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72B2"/>
                </a:solidFill>
                <a:latin typeface="Microsoft YaHei"/>
                <a:ea typeface="Microsoft YaHei"/>
                <a:cs typeface="Microsoft YaHei"/>
              </a:rPr>
              <a:t>暗连通域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77456" y="1527048"/>
            <a:ext cx="2743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51776" y="1527048"/>
            <a:ext cx="1993392" cy="548640"/>
          </a:xfrm>
          <a:prstGeom prst="roundRect">
            <a:avLst>
              <a:gd name="adj" fmla="val 4000"/>
            </a:avLst>
          </a:prstGeom>
          <a:solidFill>
            <a:srgbClr val="E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72B2"/>
                </a:solidFill>
                <a:latin typeface="Microsoft YaHei"/>
                <a:ea typeface="Microsoft YaHei"/>
                <a:cs typeface="Microsoft YaHei"/>
              </a:rPr>
              <a:t>行宽带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45168" y="1527048"/>
            <a:ext cx="2743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19488" y="1527048"/>
            <a:ext cx="1993392" cy="548640"/>
          </a:xfrm>
          <a:prstGeom prst="roundRect">
            <a:avLst>
              <a:gd name="adj" fmla="val 4000"/>
            </a:avLst>
          </a:prstGeom>
          <a:solidFill>
            <a:srgbClr val="E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72B2"/>
                </a:solidFill>
                <a:latin typeface="Microsoft YaHei"/>
                <a:ea typeface="Microsoft YaHei"/>
                <a:cs typeface="Microsoft YaHei"/>
              </a:rPr>
              <a:t>暗带上缘 y₀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350008"/>
            <a:ext cx="5852160" cy="265176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532888"/>
            <a:ext cx="53035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冻结参数（M6.2-2B）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ROI：x ∈ [690, 780)，y ∈ [380, 760)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灰度阈值：gray &lt; 120；8 邻域，面积 ≥ 150 px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行宽带：行跨度 ≥ 35 px，连续 ≥ 3 行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几何条件：带宽 40–75 px，带高 ≤ 15 px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2350008"/>
            <a:ext cx="4937760" cy="2651760"/>
          </a:xfrm>
          <a:prstGeom prst="roundRect">
            <a:avLst>
              <a:gd name="adj" fmla="val 4000"/>
            </a:avLst>
          </a:prstGeom>
          <a:solidFill>
            <a:srgbClr val="E2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2578608"/>
            <a:ext cx="43891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追踪结果</a:t>
            </a:r>
          </a:p>
          <a:p>
            <a:pPr algn="l">
              <a:spcAft>
                <a:spcPts val="1200"/>
              </a:spcAft>
            </a:pPr>
            <a:r>
              <a:rPr sz="2600" b="1">
                <a:solidFill>
                  <a:srgbClr val="009E73"/>
                </a:solidFill>
                <a:latin typeface="Microsoft YaHei"/>
                <a:ea typeface="Microsoft YaHei"/>
                <a:cs typeface="Microsoft YaHei"/>
              </a:rPr>
              <a:t>160 / 160 frames detected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frame 76–235 连续无缺口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frame 74–75 保持缺失（未放宽规则补值）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D55E00"/>
                </a:solidFill>
                <a:latin typeface="Microsoft YaHei"/>
                <a:ea typeface="Microsoft YaHei"/>
                <a:cs typeface="Microsoft YaHei"/>
              </a:rPr>
              <a:t>正式位置特征选择为暗带上缘 y₀，不使用质心、面积或滤波预测器作为正式位置。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23620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4 / 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6236208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External public educational dataset — ComPADRE / OSP Lab67 Video 1（51.5 g）</a:t>
            </a:r>
          </a:p>
          <a:p>
            <a:pPr algn="r"/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数据源：results/EXP-EXT-LAB67-V1_trajectory.csv（frame 76–235，160 帧，30 fps）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原始视觉位置序列 y₀(t)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463040" cy="381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XP-EXT-LAB67-V1_fig_A_y0_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99848"/>
            <a:ext cx="7818120" cy="39691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897880"/>
            <a:ext cx="7818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图 A：160 个原始采样点 + 10 个局部极大 + 10 个局部极小（未平滑、未滤波、未插值）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49640" y="1298448"/>
            <a:ext cx="3063240" cy="45720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1527048"/>
            <a:ext cx="260604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实测范围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0072B2"/>
                </a:solidFill>
                <a:latin typeface="Microsoft YaHei"/>
                <a:ea typeface="Microsoft YaHei"/>
                <a:cs typeface="Microsoft YaHei"/>
              </a:rPr>
              <a:t>y₀ = 508 – 622 px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极值数量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0072B2"/>
                </a:solidFill>
                <a:latin typeface="Microsoft YaHei"/>
                <a:ea typeface="Microsoft YaHei"/>
                <a:cs typeface="Microsoft YaHei"/>
              </a:rPr>
              <a:t>10 峰 + 10 谷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数据处理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未平滑、未滤波、未插值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时域结果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D55E00"/>
                </a:solidFill>
                <a:latin typeface="Microsoft YaHei"/>
                <a:ea typeface="Microsoft YaHei"/>
                <a:cs typeface="Microsoft YaHei"/>
              </a:rPr>
              <a:t>T_exp = 0.542593 s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D55E00"/>
                </a:solidFill>
                <a:latin typeface="Microsoft YaHei"/>
                <a:ea typeface="Microsoft YaHei"/>
                <a:cs typeface="Microsoft YaHei"/>
              </a:rPr>
              <a:t>f_exp = 1.843003 Hz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3620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5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6236208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External public educational dataset — ComPADRE / OSP Lab67 Video 1（51.5 g）</a:t>
            </a:r>
          </a:p>
          <a:p>
            <a:pPr algn="r"/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数据源：results/EXP-EXT-LAB67-V1_trajectory.csv（frame 76–235，160 帧，30 fps）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时域测量与频域交叉验证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463040" cy="381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89888"/>
            <a:ext cx="5486400" cy="3931920"/>
          </a:xfrm>
          <a:prstGeom prst="roundRect">
            <a:avLst>
              <a:gd name="adj" fmla="val 4000"/>
            </a:avLst>
          </a:prstGeom>
          <a:solidFill>
            <a:srgbClr val="FB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18488"/>
            <a:ext cx="493776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1">
                <a:solidFill>
                  <a:srgbClr val="D55E00"/>
                </a:solidFill>
                <a:latin typeface="Microsoft YaHei"/>
                <a:ea typeface="Microsoft YaHei"/>
                <a:cs typeface="Microsoft YaHei"/>
              </a:rPr>
              <a:t>时域（主结果）</a:t>
            </a:r>
          </a:p>
          <a:p>
            <a:pPr algn="l">
              <a:spcAft>
                <a:spcPts val="900"/>
              </a:spcAft>
            </a:pPr>
            <a:r>
              <a:rPr sz="20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T_exp = 0.542593 s</a:t>
            </a:r>
          </a:p>
          <a:p>
            <a:pPr algn="l">
              <a:spcAft>
                <a:spcPts val="900"/>
              </a:spcAft>
            </a:pPr>
            <a:r>
              <a:rPr sz="20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f_exp = 1.843003 Hz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10 个峰 + 10 个谷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峰—峰：0.542593 s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谷—谷：0.542593 s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半周期法：0.542105 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89888"/>
            <a:ext cx="5303520" cy="3931920"/>
          </a:xfrm>
          <a:prstGeom prst="roundRect">
            <a:avLst>
              <a:gd name="adj" fmla="val 4000"/>
            </a:avLst>
          </a:prstGeom>
          <a:solidFill>
            <a:srgbClr val="E2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618488"/>
            <a:ext cx="475488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>
                <a:solidFill>
                  <a:srgbClr val="009E73"/>
                </a:solidFill>
                <a:latin typeface="Microsoft YaHei"/>
                <a:ea typeface="Microsoft YaHei"/>
                <a:cs typeface="Microsoft YaHei"/>
              </a:rPr>
              <a:t>频域（独立交叉验证）</a:t>
            </a:r>
          </a:p>
          <a:p>
            <a:pPr algn="l">
              <a:spcAft>
                <a:spcPts val="1200"/>
              </a:spcAft>
            </a:pPr>
            <a:r>
              <a:rPr sz="20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FFT 主峰：1.875 Hz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频率分辨率 df：0.1875 Hz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仅对原始 y₀(t) 做 rFFT（仅减均值）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009E73"/>
                </a:solidFill>
                <a:latin typeface="Microsoft YaHei"/>
                <a:ea typeface="Microsoft YaHei"/>
                <a:cs typeface="Microsoft YaHei"/>
              </a:rPr>
              <a:t>FFT 仅作独立交叉验证，不替代时域峰间周期测量。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3620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6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6236208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External public educational dataset — ComPADRE / OSP Lab67 Video 1（51.5 g）</a:t>
            </a:r>
          </a:p>
          <a:p>
            <a:pPr algn="r"/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数据源：results/EXP-EXT-LAB67-V1_trajectory.csv（frame 76–235，160 帧，30 fps）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标准质量—弹簧 SHM 参考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463040" cy="381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89888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E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72768"/>
            <a:ext cx="493776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1">
                <a:solidFill>
                  <a:srgbClr val="0072B2"/>
                </a:solidFill>
                <a:latin typeface="Microsoft YaHei"/>
                <a:ea typeface="Microsoft YaHei"/>
                <a:cs typeface="Microsoft YaHei"/>
              </a:rPr>
              <a:t>T = 2π √(m / k)</a:t>
            </a:r>
          </a:p>
          <a:p>
            <a:pPr algn="l">
              <a:spcAft>
                <a:spcPts val="1400"/>
              </a:spcAft>
            </a:pPr>
            <a:r>
              <a:rPr sz="2200" b="1">
                <a:solidFill>
                  <a:srgbClr val="0072B2"/>
                </a:solidFill>
                <a:latin typeface="Microsoft YaHei"/>
                <a:ea typeface="Microsoft YaHei"/>
                <a:cs typeface="Microsoft YaHei"/>
              </a:rPr>
              <a:t>f = 1 / (2π) √(k / m)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m = 0.0515 kg    k = 7.05 N/m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89888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618488"/>
            <a:ext cx="47548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条件性参考值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D55E00"/>
                </a:solidFill>
                <a:latin typeface="Microsoft YaHei"/>
                <a:ea typeface="Microsoft YaHei"/>
                <a:cs typeface="Microsoft YaHei"/>
              </a:rPr>
              <a:t>T_theory = 0.537018101 s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D55E00"/>
                </a:solidFill>
                <a:latin typeface="Microsoft YaHei"/>
                <a:ea typeface="Microsoft YaHei"/>
                <a:cs typeface="Microsoft YaHei"/>
              </a:rPr>
              <a:t>f_theory = 1.862134625 Hz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5020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D55E00"/>
                </a:solidFill>
                <a:latin typeface="Microsoft YaHei"/>
                <a:ea typeface="Microsoft YaHei"/>
                <a:cs typeface="Microsoft YaHei"/>
              </a:rPr>
              <a:t>这是项目采用的标准模型参考计算，不是外部实验资料明文公式。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636008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外部资料未说明 0.0515 kg 是否包含全部挂具/夹持件质量，因此这里属于条件性的标准模型参考计算。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本页未做有效质量修正，也未反演任何等效参数。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3620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7 /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6236208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External public educational dataset — ComPADRE / OSP Lab67 Video 1（51.5 g）</a:t>
            </a:r>
          </a:p>
          <a:p>
            <a:pPr algn="r"/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数据源：results/EXP-EXT-LAB67-V1_trajectory.csv（frame 76–235，160 帧，30 fps）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实验结果与模型参考的差异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463040" cy="381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XP-EXT-LAB67-V1_fig_B_frequen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392"/>
            <a:ext cx="7635240" cy="38763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596128"/>
            <a:ext cx="7635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图 B：实验测量（时域）/ 标准模型参考 / FFT 交叉验证的对照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298448"/>
            <a:ext cx="3246120" cy="42062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0" y="1481328"/>
            <a:ext cx="278892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差异</a:t>
            </a:r>
          </a:p>
          <a:p>
            <a:pPr algn="l">
              <a:spcAft>
                <a:spcPts val="700"/>
              </a:spcAft>
            </a:pPr>
            <a:r>
              <a:rPr sz="13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ΔT = +0.005574899 s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相对差异 +1.0381%</a:t>
            </a:r>
          </a:p>
          <a:p>
            <a:pPr algn="l">
              <a:spcAft>
                <a:spcPts val="700"/>
              </a:spcAft>
            </a:pPr>
            <a:r>
              <a:rPr sz="13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Δf = −0.019131625 Hz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相对差异 −1.0274%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D55E00"/>
                </a:solidFill>
                <a:latin typeface="Microsoft YaHei"/>
                <a:ea typeface="Microsoft YaHei"/>
                <a:cs typeface="Microsoft YaHei"/>
              </a:rPr>
              <a:t>统一表述：约 1.0%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参数矩形 f ∈ [1.855281725 Hz, 1.868975645 Hz]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实验值 1.843003 Hz 位于参数矩形下界之外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A：m、k 不确定度传播尺度 ±0.3228%（频率 ±0.006011 Hz）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B：实验统计标准误 SE_T ≈ 0.0038 s、SE_f ≈ 0.0129 Hz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C：保守采样定位上界 ±0.0333 s、±0.1132 Hz（方法学上界，非统计误差）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5614416"/>
            <a:ext cx="3246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差异超过 m、k 不确定度传播尺度，但未超过当前设定的保守采样定位上界；具体物理归因未验证。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3620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8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6236208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External public educational dataset — ComPADRE / OSP Lab67 Video 1（51.5 g）</a:t>
            </a:r>
          </a:p>
          <a:p>
            <a:pPr algn="r"/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数据源：results/EXP-EXT-LAB67-V1_trajectory.csv（frame 76–235，160 帧，30 fps）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VisionMotion 完整技术链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463040" cy="381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XP-EXT-LAB67-V1_fig_C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298448"/>
            <a:ext cx="7965440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806440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图 C：计算机视觉 → 时域测量 → 频域交叉验证 → 物理模型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0" y="1389888"/>
            <a:ext cx="2743200" cy="1234440"/>
          </a:xfrm>
          <a:prstGeom prst="roundRect">
            <a:avLst>
              <a:gd name="adj" fmla="val 4000"/>
            </a:avLst>
          </a:prstGeom>
          <a:solidFill>
            <a:srgbClr val="E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0" y="1527048"/>
            <a:ext cx="23774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72B2"/>
                </a:solidFill>
                <a:latin typeface="Microsoft YaHei"/>
                <a:ea typeface="Microsoft YaHei"/>
                <a:cs typeface="Microsoft YaHei"/>
              </a:rPr>
              <a:t>视觉层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可解释检测规则（ROI / 阈值 / 连通域 / 行宽带）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2807208"/>
            <a:ext cx="2743200" cy="1234440"/>
          </a:xfrm>
          <a:prstGeom prst="roundRect">
            <a:avLst>
              <a:gd name="adj" fmla="val 4000"/>
            </a:avLst>
          </a:prstGeom>
          <a:solidFill>
            <a:srgbClr val="FB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0" y="2944368"/>
            <a:ext cx="23774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55E00"/>
                </a:solidFill>
                <a:latin typeface="Microsoft YaHei"/>
                <a:ea typeface="Microsoft YaHei"/>
                <a:cs typeface="Microsoft YaHei"/>
              </a:rPr>
              <a:t>测量层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160 帧正式轨迹；T、f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4224528"/>
            <a:ext cx="2743200" cy="1234440"/>
          </a:xfrm>
          <a:prstGeom prst="roundRect">
            <a:avLst>
              <a:gd name="adj" fmla="val 4000"/>
            </a:avLst>
          </a:prstGeom>
          <a:solidFill>
            <a:srgbClr val="E2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0" y="4361688"/>
            <a:ext cx="23774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9E73"/>
                </a:solidFill>
                <a:latin typeface="Microsoft YaHei"/>
                <a:ea typeface="Microsoft YaHei"/>
                <a:cs typeface="Microsoft YaHei"/>
              </a:rPr>
              <a:t>验证层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FFT 交叉验证 + 标准 SHM 参考 + 不确定度边界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5641848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55E00"/>
                </a:solidFill>
                <a:latin typeface="Microsoft YaHei"/>
                <a:ea typeface="Microsoft YaHei"/>
                <a:cs typeface="Microsoft YaHei"/>
              </a:rPr>
              <a:t>当前阶段属于视觉测量与方法验证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3620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9 /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6236208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External public educational dataset — ComPADRE / OSP Lab67 Video 1（51.5 g）</a:t>
            </a:r>
          </a:p>
          <a:p>
            <a:pPr algn="r"/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数据源：results/EXP-EXT-LAB67-V1_trajectory.csv（frame 76–235，160 帧，30 fps）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现阶段成果与下一步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463040" cy="381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89888"/>
            <a:ext cx="5486400" cy="3931920"/>
          </a:xfrm>
          <a:prstGeom prst="roundRect">
            <a:avLst>
              <a:gd name="adj" fmla="val 4000"/>
            </a:avLst>
          </a:prstGeom>
          <a:solidFill>
            <a:srgbClr val="E2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72768"/>
            <a:ext cx="493776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009E73"/>
                </a:solidFill>
                <a:latin typeface="Microsoft YaHei"/>
                <a:ea typeface="Microsoft YaHei"/>
                <a:cs typeface="Microsoft YaHei"/>
              </a:rPr>
              <a:t>已经完成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✓ 视频 → 位置时间序列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✓ 160/160 全检出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✓ 周期 / 频率（T、f）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✓ FFT 交叉验证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✓ 标准 SHM 条件性参考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✓ 不确定度与证据边界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✓ 最终可复现报告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89888"/>
            <a:ext cx="5303520" cy="393192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572768"/>
            <a:ext cx="475488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当前限制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外部公开数据，不是自主实验采集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单一视频 / 单一质量（51.5 g）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30 fps 限制极值时间定位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y₀ 仍为像素（px）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本阶段没有有效动态 px/mm 标定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无阻尼 / 有效质量独立测量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具体物理差异原因未验证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32120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项目报告：docs/M6.3_FINAL_REPORT.md　　数据来源说明：docs/ATTRIBUTION.md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GitHub repository: https://github.com/yangzi0808/VisionMotion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3620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10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6236208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External public educational dataset — ComPADRE / OSP Lab67 Video 1（51.5 g）</a:t>
            </a:r>
          </a:p>
          <a:p>
            <a:pPr algn="r"/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数据源：results/EXP-EXT-LAB67-V1_trajectory.csv（frame 76–235，160 帧，30 fps）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VisionMotion — 基于计算机视觉的低成本非接触式位移与振动监测</dc:title>
  <dc:subject>外部公开教育数据上的视觉测量、周期/频率与条件性物理参考</dc:subject>
  <dc:creator>VisionMotion 项目（作者简介见 docs/AUTHOR_PROFILE.md）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